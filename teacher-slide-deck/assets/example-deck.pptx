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建议用时：3 分钟</a:t>
            </a:r>
          </a:p>
          <a:p>
            <a:r>
              <a:t>诊断任务：两人分别借 4 本、8 本，平均放成两堆，每堆多少本？先独立写，再同桌解释。答案 (4+8)÷2=6。本例数据为合成数据，不代表真实班级。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建议用时：7 分钟</a:t>
            </a:r>
          </a:p>
          <a:p>
            <a:r>
              <a:t>每组 28 枚筹码；没有筹码时画圆点。可从 10 堆移 3 到 4 堆，从 8 堆移 1 到 6 堆，四堆各 7。要求写出移动前后总数均为 28，并说明为什么总数不变。若添减筹码，先重数再移动。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建议用时：9 分钟</a:t>
            </a:r>
          </a:p>
          <a:p>
            <a:r>
              <a:t>2、5、8 的平均数为 5。用前例平均数 7 不在 4、8、6、10 中作为反例，说明平均数不一定是原数据之一。平均数是移匀后的每份量，不表示每个人实际都借了 7 本。检查学生是否把 4 个数错除以 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建议用时：7 分钟</a:t>
            </a:r>
          </a:p>
          <a:p>
            <a:r>
              <a:t>甲组 28÷4=7 本/人；乙组 27÷3=9 本/人；乙组平均每人更多。若只比较 28 与 27，追问两组人数是否相同、问题比较什么单位。不要把这两组借阅记录推断为学生阅读能力。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建议用时：5 分钟</a:t>
            </a:r>
          </a:p>
          <a:p>
            <a:r>
              <a:t>题 1：(3+6+9)÷3=6 次。题 2：甲 18÷2=9，乙 24÷3=8，甲较多。答案只放备注，学生独立完成后讲评。区分算法错误与运算失误，不能仅看最终答案。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建议用时：3 分钟</a:t>
            </a:r>
          </a:p>
          <a:p>
            <a:r>
              <a:t>补练：(2+6)÷2=4，从 6 堆移 2 到 2 堆。挑战：15×4−(12+16+14)=18 页。根据刚才任务表现推荐，不固定学生层次；可自行换题。计算失误者先重算前页题。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建议用时：4 分钟</a:t>
            </a:r>
          </a:p>
          <a:p>
            <a:r>
              <a:t>题 1：5+7+6+10=28，28÷4=7。题 2：甲 30÷5=6，乙 28÷4=7，乙更多。收取独立回答，记录错在总数、份数还是比较理由，作为次课订正依据。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建议用时：2 分钟</a:t>
            </a:r>
          </a:p>
          <a:p>
            <a:r>
              <a:t>必做：(6+8+10)÷3=8 页，表示移匀后的平均每次量。可选：8×3−7−8=9 本。次课先订正再复测：3、9、6 的平均数为 6；甲 3 人共 21 本、乙 2 人共 16 本，平均每人分别 7、8，乙更多。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5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914400" cy="82296"/>
          </a:xfrm>
          <a:prstGeom prst="rect">
            <a:avLst/>
          </a:prstGeom>
          <a:solidFill>
            <a:srgbClr val="5AC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600" b="0">
                <a:solidFill>
                  <a:srgbClr val="ADD9E0"/>
                </a:solidFill>
                <a:latin typeface="Microsoft YaHei"/>
                <a:ea typeface="Microsoft YaHei"/>
                <a:cs typeface="Microsoft YaHei"/>
              </a:defRPr>
            </a:pPr>
            <a:r>
              <a:t>五年级数学 · 原创合成教学示例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平均数怎样帮助比较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058400" cy="1417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2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先移匀，再计算，最后比较。</a:t>
            </a:r>
            <a:br/>
            <a:r>
              <a:t>今天的问题：总数更多，平均每人也更多吗？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学习目标：求平均数，解释平均每份，比较不同人数的两组。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91440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000" b="0">
                <a:solidFill>
                  <a:srgbClr val="ADD9E0"/>
                </a:solidFill>
                <a:latin typeface="Microsoft YaHei"/>
                <a:ea typeface="Microsoft YaHei"/>
                <a:cs typeface="Microsoft YaHei"/>
              </a:defRPr>
            </a:pPr>
            <a:r>
              <a:t>平均数怎样帮助比较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73152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000" b="0">
                <a:solidFill>
                  <a:srgbClr val="ADD9E0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200" b="0">
                <a:solidFill>
                  <a:srgbClr val="516A7C"/>
                </a:solidFill>
                <a:latin typeface="Microsoft YaHei"/>
                <a:ea typeface="Microsoft YaHei"/>
                <a:cs typeface="Microsoft YaHei"/>
              </a:defRPr>
            </a:pPr>
            <a:r>
              <a:t>五年级数学 · 原创合成教学示例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3200" b="1">
                <a:solidFill>
                  <a:srgbClr val="14354E"/>
                </a:solidFill>
                <a:latin typeface="Microsoft YaHei"/>
                <a:ea typeface="Microsoft YaHei"/>
                <a:cs typeface="Microsoft YaHei"/>
              </a:defRPr>
            </a:pPr>
            <a:r>
              <a:t>移动，不能添减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118872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记录</a:t>
                      </a:r>
                    </a:p>
                  </a:txBody>
                  <a:tcPr marL="109728" marR="109728" marT="54864" marB="54864" anchor="ctr">
                    <a:solidFill>
                      <a:srgbClr val="087F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第一堆</a:t>
                      </a:r>
                    </a:p>
                  </a:txBody>
                  <a:tcPr marL="109728" marR="109728" marT="54864" marB="54864" anchor="ctr">
                    <a:solidFill>
                      <a:srgbClr val="087F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第二堆</a:t>
                      </a:r>
                    </a:p>
                  </a:txBody>
                  <a:tcPr marL="109728" marR="109728" marT="54864" marB="54864" anchor="ctr">
                    <a:solidFill>
                      <a:srgbClr val="087F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第三堆</a:t>
                      </a:r>
                    </a:p>
                  </a:txBody>
                  <a:tcPr marL="109728" marR="109728" marT="54864" marB="54864" anchor="ctr">
                    <a:solidFill>
                      <a:srgbClr val="087F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第四堆</a:t>
                      </a:r>
                    </a:p>
                  </a:txBody>
                  <a:tcPr marL="109728" marR="109728" marT="54864" marB="54864" anchor="ctr">
                    <a:solidFill>
                      <a:srgbClr val="087F8C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2437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移动前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2437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4 枚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2437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8 枚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2437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6 枚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2437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10 枚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2437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任务</a:t>
                      </a:r>
                    </a:p>
                  </a:txBody>
                  <a:tcPr marL="109728" marR="109728" marT="54864" marB="54864" anchor="ctr">
                    <a:solidFill>
                      <a:srgbClr val="E5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2437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移到一样多</a:t>
                      </a:r>
                    </a:p>
                  </a:txBody>
                  <a:tcPr marL="109728" marR="109728" marT="54864" marB="54864" anchor="ctr">
                    <a:solidFill>
                      <a:srgbClr val="E5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2437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总数不变</a:t>
                      </a:r>
                    </a:p>
                  </a:txBody>
                  <a:tcPr marL="109728" marR="109728" marT="54864" marB="54864" anchor="ctr">
                    <a:solidFill>
                      <a:srgbClr val="E5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2437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记录方法</a:t>
                      </a:r>
                    </a:p>
                  </a:txBody>
                  <a:tcPr marL="109728" marR="109728" marT="54864" marB="54864" anchor="ctr">
                    <a:solidFill>
                      <a:srgbClr val="E5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2437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每堆几枚？</a:t>
                      </a:r>
                    </a:p>
                  </a:txBody>
                  <a:tcPr marL="109728" marR="109728" marT="54864" marB="54864" anchor="ctr">
                    <a:solidFill>
                      <a:srgbClr val="E5F2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760720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700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t>移匀的条件：总量保持不变，每份同样多。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91440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000" b="0">
                <a:solidFill>
                  <a:srgbClr val="516A7C"/>
                </a:solidFill>
                <a:latin typeface="Microsoft YaHei"/>
                <a:ea typeface="Microsoft YaHei"/>
                <a:cs typeface="Microsoft YaHei"/>
              </a:defRPr>
            </a:pPr>
            <a:r>
              <a:t>平均数怎样帮助比较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73152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000" b="0">
                <a:solidFill>
                  <a:srgbClr val="516A7C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200" b="0">
                <a:solidFill>
                  <a:srgbClr val="516A7C"/>
                </a:solidFill>
                <a:latin typeface="Microsoft YaHei"/>
                <a:ea typeface="Microsoft YaHei"/>
                <a:cs typeface="Microsoft YaHei"/>
              </a:defRPr>
            </a:pPr>
            <a:r>
              <a:t>五年级数学 · 原创合成教学示例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3200" b="1">
                <a:solidFill>
                  <a:srgbClr val="14354E"/>
                </a:solidFill>
                <a:latin typeface="Microsoft YaHei"/>
                <a:ea typeface="Microsoft YaHei"/>
                <a:cs typeface="Microsoft YaHei"/>
              </a:defRPr>
            </a:pPr>
            <a:r>
              <a:t>总数 ÷ 份数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89220" cy="3886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1892807"/>
            <a:ext cx="50292" cy="4114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47088"/>
            <a:ext cx="45491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t>把移动写成算式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51760"/>
            <a:ext cx="4549140" cy="2670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4 + 8 + 6 + 10 = 28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28 ÷ 4 = 7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平均数描述平均每份的数量。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79" y="1645920"/>
            <a:ext cx="5189220" cy="3886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69379" y="1892807"/>
            <a:ext cx="50292" cy="4114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2259" y="1847088"/>
            <a:ext cx="45491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t>算一算，再解释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0819" y="2651760"/>
            <a:ext cx="4549140" cy="2670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2、5、8 的平均数是多少？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平均数一定是原数据中的一个吗？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用本课的数据说明理由。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700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t>先求总数，再除以份数；平均数不一定是实际出现的数。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91440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000" b="0">
                <a:solidFill>
                  <a:srgbClr val="516A7C"/>
                </a:solidFill>
                <a:latin typeface="Microsoft YaHei"/>
                <a:ea typeface="Microsoft YaHei"/>
                <a:cs typeface="Microsoft YaHei"/>
              </a:defRPr>
            </a:pPr>
            <a:r>
              <a:t>平均数怎样帮助比较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73152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000" b="0">
                <a:solidFill>
                  <a:srgbClr val="516A7C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200" b="0">
                <a:solidFill>
                  <a:srgbClr val="516A7C"/>
                </a:solidFill>
                <a:latin typeface="Microsoft YaHei"/>
                <a:ea typeface="Microsoft YaHei"/>
                <a:cs typeface="Microsoft YaHei"/>
              </a:defRPr>
            </a:pPr>
            <a:r>
              <a:t>五年级数学 · 原创合成教学示例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3200" b="1">
                <a:solidFill>
                  <a:srgbClr val="14354E"/>
                </a:solidFill>
                <a:latin typeface="Microsoft YaHei"/>
                <a:ea typeface="Microsoft YaHei"/>
                <a:cs typeface="Microsoft YaHei"/>
              </a:defRPr>
            </a:pPr>
            <a:r>
              <a:t>总数大，平均数也大吗？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89220" cy="3886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1892807"/>
            <a:ext cx="50292" cy="4114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47088"/>
            <a:ext cx="45491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t>甲组：4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51760"/>
            <a:ext cx="4549140" cy="2670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借阅记录：4、8、6、10 本。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总数是 28 本。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平均每人借多少本？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79" y="1645920"/>
            <a:ext cx="5189220" cy="3886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69379" y="1892807"/>
            <a:ext cx="50292" cy="4114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2259" y="1847088"/>
            <a:ext cx="45491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t>乙组：3 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0819" y="2651760"/>
            <a:ext cx="4549140" cy="2670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借阅记录：9、9、9 本。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总数是 27 本。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哪组平均每人更多？写理由。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700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t>比较平均每人时，人数不同就不能只看总数。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91440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000" b="0">
                <a:solidFill>
                  <a:srgbClr val="516A7C"/>
                </a:solidFill>
                <a:latin typeface="Microsoft YaHei"/>
                <a:ea typeface="Microsoft YaHei"/>
                <a:cs typeface="Microsoft YaHei"/>
              </a:defRPr>
            </a:pPr>
            <a:r>
              <a:t>平均数怎样帮助比较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73152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000" b="0">
                <a:solidFill>
                  <a:srgbClr val="516A7C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200" b="0">
                <a:solidFill>
                  <a:srgbClr val="516A7C"/>
                </a:solidFill>
                <a:latin typeface="Microsoft YaHei"/>
                <a:ea typeface="Microsoft YaHei"/>
                <a:cs typeface="Microsoft YaHei"/>
              </a:defRPr>
            </a:pPr>
            <a:r>
              <a:t>五年级数学 · 原创合成教学示例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3200" b="1">
                <a:solidFill>
                  <a:srgbClr val="14354E"/>
                </a:solidFill>
                <a:latin typeface="Microsoft YaHei"/>
                <a:ea typeface="Microsoft YaHei"/>
                <a:cs typeface="Microsoft YaHei"/>
              </a:defRPr>
            </a:pPr>
            <a:r>
              <a:t>独立练习：先写算式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89220" cy="3886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1892807"/>
            <a:ext cx="50292" cy="4114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47088"/>
            <a:ext cx="45491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t>题 1：三次记录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51760"/>
            <a:ext cx="4549140" cy="2670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三次投篮分别命中 3、6、9 次。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平均每次命中几次？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写出总数和份数。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79" y="1645920"/>
            <a:ext cx="5189220" cy="3886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69379" y="1892807"/>
            <a:ext cx="50292" cy="4114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2259" y="1847088"/>
            <a:ext cx="45491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t>题 2：两组卡片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0819" y="2651760"/>
            <a:ext cx="4549140" cy="2670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甲组 2 人，共收集 18 张。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乙组 3 人，共收集 24 张。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哪组平均每人更多？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700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t>检查：除数是份数吗？比较的是同一种量吗？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91440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000" b="0">
                <a:solidFill>
                  <a:srgbClr val="516A7C"/>
                </a:solidFill>
                <a:latin typeface="Microsoft YaHei"/>
                <a:ea typeface="Microsoft YaHei"/>
                <a:cs typeface="Microsoft YaHei"/>
              </a:defRPr>
            </a:pPr>
            <a:r>
              <a:t>平均数怎样帮助比较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73152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000" b="0">
                <a:solidFill>
                  <a:srgbClr val="516A7C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200" b="0">
                <a:solidFill>
                  <a:srgbClr val="516A7C"/>
                </a:solidFill>
                <a:latin typeface="Microsoft YaHei"/>
                <a:ea typeface="Microsoft YaHei"/>
                <a:cs typeface="Microsoft YaHei"/>
              </a:defRPr>
            </a:pPr>
            <a:r>
              <a:t>五年级数学 · 原创合成教学示例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3200" b="1">
                <a:solidFill>
                  <a:srgbClr val="14354E"/>
                </a:solidFill>
                <a:latin typeface="Microsoft YaHei"/>
                <a:ea typeface="Microsoft YaHei"/>
                <a:cs typeface="Microsoft YaHei"/>
              </a:defRPr>
            </a:pPr>
            <a:r>
              <a:t>选择下一步任务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89220" cy="3886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1892807"/>
            <a:ext cx="50292" cy="4114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47088"/>
            <a:ext cx="45491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t>需要再看移匀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51760"/>
            <a:ext cx="4549140" cy="2670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两堆圆点为 2、6。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画图移动到一样多。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写平均数算式，并说出理由。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79" y="1645920"/>
            <a:ext cx="5189220" cy="3886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69379" y="1892807"/>
            <a:ext cx="50292" cy="4114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2259" y="1847088"/>
            <a:ext cx="45491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t>试试反向计算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0819" y="2651760"/>
            <a:ext cx="4549140" cy="2670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4 天平均阅读 15 页。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前 3 天是 12、16、14 页。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第 4 天读多少页？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700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依据这次任务表现选题；完成后重新检查。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91440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000" b="0">
                <a:solidFill>
                  <a:srgbClr val="516A7C"/>
                </a:solidFill>
                <a:latin typeface="Microsoft YaHei"/>
                <a:ea typeface="Microsoft YaHei"/>
                <a:cs typeface="Microsoft YaHei"/>
              </a:defRPr>
            </a:pPr>
            <a:r>
              <a:t>平均数怎样帮助比较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73152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000" b="0">
                <a:solidFill>
                  <a:srgbClr val="516A7C"/>
                </a:solidFill>
                <a:latin typeface="Microsoft YaHei"/>
                <a:ea typeface="Microsoft YaHei"/>
                <a:cs typeface="Microsoft YaHei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200" b="0">
                <a:solidFill>
                  <a:srgbClr val="516A7C"/>
                </a:solidFill>
                <a:latin typeface="Microsoft YaHei"/>
                <a:ea typeface="Microsoft YaHei"/>
                <a:cs typeface="Microsoft YaHei"/>
              </a:defRPr>
            </a:pPr>
            <a:r>
              <a:t>五年级数学 · 原创合成教学示例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3200" b="1">
                <a:solidFill>
                  <a:srgbClr val="14354E"/>
                </a:solidFill>
                <a:latin typeface="Microsoft YaHei"/>
                <a:ea typeface="Microsoft YaHei"/>
                <a:cs typeface="Microsoft YaHei"/>
              </a:defRPr>
            </a:pPr>
            <a:r>
              <a:t>退出题：独立写理由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89220" cy="3886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1892807"/>
            <a:ext cx="50292" cy="4114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47088"/>
            <a:ext cx="45491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t>题 1：求平均数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51760"/>
            <a:ext cx="4549140" cy="2670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四次记录为 5、7、6、10。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平均数是多少？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写两步计算。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79" y="1645920"/>
            <a:ext cx="5189220" cy="3886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69379" y="1892807"/>
            <a:ext cx="50292" cy="4114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2259" y="1847088"/>
            <a:ext cx="45491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t>题 2：比较平均每人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0819" y="2651760"/>
            <a:ext cx="4549140" cy="2670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甲组 5 人共借 30 本。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乙组 4 人共借 28 本。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谁平均每人更多？解释。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700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t>先独立完成，交卷后再讨论。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91440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000" b="0">
                <a:solidFill>
                  <a:srgbClr val="516A7C"/>
                </a:solidFill>
                <a:latin typeface="Microsoft YaHei"/>
                <a:ea typeface="Microsoft YaHei"/>
                <a:cs typeface="Microsoft YaHei"/>
              </a:defRPr>
            </a:pPr>
            <a:r>
              <a:t>平均数怎样帮助比较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73152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000" b="0">
                <a:solidFill>
                  <a:srgbClr val="516A7C"/>
                </a:solidFill>
                <a:latin typeface="Microsoft YaHei"/>
                <a:ea typeface="Microsoft YaHei"/>
                <a:cs typeface="Microsoft YaHei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200" b="0">
                <a:solidFill>
                  <a:srgbClr val="516A7C"/>
                </a:solidFill>
                <a:latin typeface="Microsoft YaHei"/>
                <a:ea typeface="Microsoft YaHei"/>
                <a:cs typeface="Microsoft YaHei"/>
              </a:defRPr>
            </a:pPr>
            <a:r>
              <a:t>五年级数学 · 原创合成教学示例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3200" b="1">
                <a:solidFill>
                  <a:srgbClr val="14354E"/>
                </a:solidFill>
                <a:latin typeface="Microsoft YaHei"/>
                <a:ea typeface="Microsoft YaHei"/>
                <a:cs typeface="Microsoft YaHei"/>
              </a:defRPr>
            </a:pPr>
            <a:r>
              <a:t>作业与下一课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89220" cy="3886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1892807"/>
            <a:ext cx="50292" cy="4114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47088"/>
            <a:ext cx="45491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t>必做：约 3 分钟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51760"/>
            <a:ext cx="4549140" cy="2670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三次阅读为 6、8、10 页。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求平均每次阅读页数。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解释结果，不把它当成每次实读数。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79" y="1645920"/>
            <a:ext cx="5189220" cy="3886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69379" y="1892807"/>
            <a:ext cx="50292" cy="4114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2259" y="1847088"/>
            <a:ext cx="45491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t>可选：约 2 分钟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0819" y="2651760"/>
            <a:ext cx="4549140" cy="2670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三天平均整理 8 本图书。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前两天分别整理 7 本、8 本。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300" b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defRPr>
            </a:pPr>
            <a:r>
              <a:t>第三天整理多少本？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700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下一课先订正，再用新题判断是否掌握。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91440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000" b="0">
                <a:solidFill>
                  <a:srgbClr val="516A7C"/>
                </a:solidFill>
                <a:latin typeface="Microsoft YaHei"/>
                <a:ea typeface="Microsoft YaHei"/>
                <a:cs typeface="Microsoft YaHei"/>
              </a:defRPr>
            </a:pPr>
            <a:r>
              <a:t>平均数怎样帮助比较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73152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000" b="0">
                <a:solidFill>
                  <a:srgbClr val="516A7C"/>
                </a:solidFill>
                <a:latin typeface="Microsoft YaHei"/>
                <a:ea typeface="Microsoft YaHei"/>
                <a:cs typeface="Microsoft YaHei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平均数怎样帮助比较</dc:title>
  <dc:subject>五年级数学 · 原创合成教学示例</dc:subject>
  <dc:creator>Teacher Workflow Pack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